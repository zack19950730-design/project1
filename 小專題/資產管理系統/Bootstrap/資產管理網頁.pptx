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013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B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2059" y="4075688"/>
            <a:ext cx="2327881" cy="51767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22509" y="2724150"/>
            <a:ext cx="8346980" cy="5943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875"/>
              </a:lnSpc>
            </a:pPr>
            <a:r>
              <a:rPr sz="3750" b="1" i="0" u="none" dirty="0" err="1">
                <a:solidFill>
                  <a:srgbClr val="3C312E"/>
                </a:solidFill>
                <a:latin typeface="Fredoka"/>
              </a:rPr>
              <a:t>給我錢錢</a:t>
            </a:r>
            <a:r>
              <a:rPr sz="3750" b="1" i="0" u="none" dirty="0">
                <a:solidFill>
                  <a:srgbClr val="3C312E"/>
                </a:solidFill>
                <a:latin typeface="Fredoka"/>
              </a:rPr>
              <a:t>♥</a:t>
            </a:r>
            <a:r>
              <a:rPr lang="zh-TW" altLang="en-US" sz="3750" b="1" dirty="0">
                <a:solidFill>
                  <a:srgbClr val="3C312E"/>
                </a:solidFill>
                <a:latin typeface="Fredoka"/>
              </a:rPr>
              <a:t>資產管理網頁</a:t>
            </a:r>
            <a:endParaRPr sz="3750" b="1" dirty="0">
              <a:solidFill>
                <a:srgbClr val="3C312E"/>
              </a:solidFill>
              <a:latin typeface="Fredok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000375" y="3533775"/>
            <a:ext cx="6191250" cy="280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 dirty="0" err="1">
                <a:solidFill>
                  <a:srgbClr val="5C4E4B"/>
                </a:solidFill>
                <a:latin typeface="Fredoka"/>
              </a:rPr>
              <a:t>在不知不覺中把錢錢堆得像小山一樣高</a:t>
            </a:r>
            <a:r>
              <a:rPr sz="1500" b="0" i="0" u="none" dirty="0">
                <a:solidFill>
                  <a:srgbClr val="5C4E4B"/>
                </a:solidFill>
                <a:latin typeface="Fredoka"/>
              </a:rPr>
              <a:t>！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DD49BCAF-0CCB-563E-E32D-B20D5F6E0B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7746" y="159328"/>
            <a:ext cx="2989118" cy="298911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內容版面配置區 14">
            <a:extLst>
              <a:ext uri="{FF2B5EF4-FFF2-40B4-BE49-F238E27FC236}">
                <a16:creationId xmlns:a16="http://schemas.microsoft.com/office/drawing/2014/main" id="{5DBB0629-852D-814A-AA6A-EFC57A176F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3765" y="640959"/>
            <a:ext cx="4634344" cy="5507183"/>
          </a:xfrm>
        </p:spPr>
        <p:txBody>
          <a:bodyPr/>
          <a:lstStyle/>
          <a:p>
            <a:pPr marL="0" indent="0" algn="ctr">
              <a:buNone/>
            </a:pPr>
            <a:r>
              <a:rPr lang="zh-TW" altLang="en-US" sz="6000" b="1" dirty="0"/>
              <a:t>大綱</a:t>
            </a:r>
            <a:r>
              <a:rPr lang="en-US" altLang="zh-TW" sz="6000" b="1" dirty="0"/>
              <a:t>:</a:t>
            </a:r>
          </a:p>
          <a:p>
            <a:r>
              <a:rPr lang="zh-TW" altLang="en-US" sz="3600" dirty="0"/>
              <a:t>主頁面</a:t>
            </a:r>
            <a:r>
              <a:rPr lang="en-US" altLang="zh-TW" sz="3600" dirty="0"/>
              <a:t>/</a:t>
            </a:r>
            <a:r>
              <a:rPr lang="zh-TW" altLang="en-US" sz="3600" dirty="0"/>
              <a:t>淨資產看板</a:t>
            </a:r>
            <a:endParaRPr lang="en-US" altLang="zh-TW" sz="3600" dirty="0"/>
          </a:p>
          <a:p>
            <a:r>
              <a:rPr lang="zh-TW" altLang="en-US" sz="3600" dirty="0"/>
              <a:t>現金流</a:t>
            </a:r>
            <a:endParaRPr lang="en-US" altLang="zh-TW" sz="3600" dirty="0"/>
          </a:p>
          <a:p>
            <a:r>
              <a:rPr lang="zh-TW" altLang="en-US" sz="3600" dirty="0"/>
              <a:t>投資頁面</a:t>
            </a:r>
            <a:endParaRPr lang="en-US" altLang="zh-TW" sz="3600" dirty="0"/>
          </a:p>
          <a:p>
            <a:r>
              <a:rPr lang="zh-TW" altLang="en-US" sz="3600" dirty="0"/>
              <a:t>股票交易紀錄</a:t>
            </a:r>
            <a:endParaRPr lang="en-US" altLang="zh-TW" sz="3600" dirty="0"/>
          </a:p>
          <a:p>
            <a:r>
              <a:rPr lang="zh-TW" altLang="en-US" sz="3600" dirty="0"/>
              <a:t>固定資產</a:t>
            </a:r>
            <a:endParaRPr lang="en-US" altLang="zh-TW" sz="3600" dirty="0"/>
          </a:p>
          <a:p>
            <a:r>
              <a:rPr lang="zh-TW" altLang="en-US" sz="3600" dirty="0"/>
              <a:t>負債</a:t>
            </a:r>
            <a:endParaRPr lang="en-US" altLang="zh-TW" sz="3600" dirty="0"/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74D4BAE4-F78A-E8EE-06A1-95D21B0C57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811" y="661742"/>
            <a:ext cx="4345998" cy="3758701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  <p:graphicFrame>
        <p:nvGraphicFramePr>
          <p:cNvPr id="2" name="物件 1">
            <a:extLst>
              <a:ext uri="{FF2B5EF4-FFF2-40B4-BE49-F238E27FC236}">
                <a16:creationId xmlns:a16="http://schemas.microsoft.com/office/drawing/2014/main" id="{7BBA16A1-BA29-9B4F-5168-B0A10CF688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1185741"/>
              </p:ext>
            </p:extLst>
          </p:nvPr>
        </p:nvGraphicFramePr>
        <p:xfrm>
          <a:off x="8884228" y="6148142"/>
          <a:ext cx="2819400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封裝程式殼層物件" showAsIcon="1" r:id="rId3" imgW="2819329" imgH="510406" progId="Package">
                  <p:embed/>
                </p:oleObj>
              </mc:Choice>
              <mc:Fallback>
                <p:oleObj name="封裝程式殼層物件" showAsIcon="1" r:id="rId3" imgW="2819329" imgH="510406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884228" y="6148142"/>
                        <a:ext cx="2819400" cy="511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095" y="2422252"/>
            <a:ext cx="5731073" cy="201349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33525" y="552450"/>
            <a:ext cx="9121140" cy="657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zh-TW" altLang="en-US" sz="4275" b="1" i="0" u="none" dirty="0">
                <a:solidFill>
                  <a:srgbClr val="3C312E"/>
                </a:solidFill>
                <a:latin typeface="Fredoka"/>
              </a:rPr>
              <a:t>主頁面</a:t>
            </a:r>
            <a:r>
              <a:rPr lang="en-US" altLang="zh-TW" sz="4275" b="1" i="0" u="none" dirty="0">
                <a:solidFill>
                  <a:srgbClr val="3C312E"/>
                </a:solidFill>
                <a:latin typeface="Fredoka"/>
              </a:rPr>
              <a:t>/</a:t>
            </a:r>
            <a:r>
              <a:rPr lang="zh-TW" altLang="en-US" sz="4275" b="1" i="0" u="none" dirty="0">
                <a:solidFill>
                  <a:srgbClr val="3C312E"/>
                </a:solidFill>
                <a:latin typeface="Fredoka"/>
              </a:rPr>
              <a:t>淨資產看板</a:t>
            </a: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2DEEE9CF-67FD-EC34-1259-D395B2DA43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832" y="1806173"/>
            <a:ext cx="11648209" cy="324565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9B8C1099-EE63-201D-418B-B87E80D942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9468" y="5051825"/>
            <a:ext cx="3833192" cy="171464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A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3209925"/>
            <a:ext cx="2649438" cy="1409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85925" y="552450"/>
            <a:ext cx="9121140" cy="657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zh-TW" altLang="en-US" sz="4275" b="1" i="0" u="none" dirty="0">
                <a:solidFill>
                  <a:srgbClr val="3C312E"/>
                </a:solidFill>
                <a:latin typeface="Fredoka"/>
              </a:rPr>
              <a:t>現金流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73388" y="3426172"/>
            <a:ext cx="8059444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 dirty="0" err="1">
                <a:solidFill>
                  <a:srgbClr val="3C312E"/>
                </a:solidFill>
                <a:latin typeface="Fredoka"/>
              </a:rPr>
              <a:t>薪水一來，先自動撥走四成存起來</a:t>
            </a:r>
            <a:r>
              <a:rPr sz="1950" b="1" i="0" u="none" dirty="0">
                <a:solidFill>
                  <a:srgbClr val="3C312E"/>
                </a:solidFill>
                <a:latin typeface="Fredoka"/>
              </a:rPr>
              <a:t>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73388" y="3854797"/>
            <a:ext cx="7675661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 dirty="0" err="1">
                <a:solidFill>
                  <a:srgbClr val="5C4E4B"/>
                </a:solidFill>
                <a:latin typeface="Fredoka"/>
              </a:rPr>
              <a:t>每個月發薪水當天，立刻「自動轉帳</a:t>
            </a:r>
            <a:r>
              <a:rPr sz="1350" b="0" i="0" u="none" dirty="0">
                <a:solidFill>
                  <a:srgbClr val="5C4E4B"/>
                </a:solidFill>
                <a:latin typeface="Fredoka"/>
              </a:rPr>
              <a:t> 40%」</a:t>
            </a:r>
            <a:r>
              <a:rPr sz="1350" b="0" i="0" u="none" dirty="0" err="1">
                <a:solidFill>
                  <a:srgbClr val="5C4E4B"/>
                </a:solidFill>
                <a:latin typeface="Fredoka"/>
              </a:rPr>
              <a:t>到沒有提款卡的祕密備用帳戶！剩下的六成才拿來做生活開銷。這就像貓咪藏飼料一樣，在看不到的地方默默長大</a:t>
            </a:r>
            <a:r>
              <a:rPr sz="1350" b="0" i="0" u="none" dirty="0">
                <a:solidFill>
                  <a:srgbClr val="5C4E4B"/>
                </a:solidFill>
                <a:latin typeface="Fredoka"/>
              </a:rPr>
              <a:t>！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DAA89ECB-E0A3-8684-7279-5BB60355A2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274" y="2564442"/>
            <a:ext cx="11283558" cy="258944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16E4B88B-7F70-963A-63B9-771D1D78B6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8309" y="795010"/>
            <a:ext cx="1844200" cy="1714649"/>
          </a:xfrm>
          <a:prstGeom prst="rect">
            <a:avLst/>
          </a:prstGeom>
        </p:spPr>
      </p:pic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251F57AB-79BD-F232-B8A1-D761F7B4DC15}"/>
              </a:ext>
            </a:extLst>
          </p:cNvPr>
          <p:cNvCxnSpPr>
            <a:cxnSpLocks/>
          </p:cNvCxnSpPr>
          <p:nvPr/>
        </p:nvCxnSpPr>
        <p:spPr>
          <a:xfrm flipV="1">
            <a:off x="1992074" y="1025590"/>
            <a:ext cx="7089581" cy="232032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B12D9E66-7C6C-457C-6658-C84471A5AD73}"/>
              </a:ext>
            </a:extLst>
          </p:cNvPr>
          <p:cNvCxnSpPr>
            <a:cxnSpLocks/>
          </p:cNvCxnSpPr>
          <p:nvPr/>
        </p:nvCxnSpPr>
        <p:spPr>
          <a:xfrm flipV="1">
            <a:off x="1992074" y="2509659"/>
            <a:ext cx="8959944" cy="114766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85925" y="552450"/>
            <a:ext cx="8319477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zh-TW" altLang="en-US" sz="4400" dirty="0"/>
              <a:t>投資頁面</a:t>
            </a:r>
            <a:r>
              <a:rPr sz="4275" b="1" i="0" u="none" dirty="0">
                <a:solidFill>
                  <a:srgbClr val="3C312E"/>
                </a:solidFill>
                <a:latin typeface="Fredoka"/>
              </a:rPr>
              <a:t>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1575" y="2760612"/>
            <a:ext cx="5197673" cy="57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1" i="0" u="none" dirty="0" err="1">
                <a:solidFill>
                  <a:srgbClr val="2C2220"/>
                </a:solidFill>
                <a:latin typeface="Fredoka"/>
              </a:rPr>
              <a:t>設定無痛存錢罐</a:t>
            </a:r>
            <a:r>
              <a:rPr sz="1425" b="1" i="0" u="none" dirty="0">
                <a:solidFill>
                  <a:srgbClr val="2C2220"/>
                </a:solidFill>
                <a:latin typeface="Fredoka"/>
              </a:rPr>
              <a:t> App：</a:t>
            </a:r>
            <a:r>
              <a:rPr sz="1425" b="0" i="0" u="none" dirty="0">
                <a:solidFill>
                  <a:srgbClr val="5C4E4B"/>
                </a:solidFill>
                <a:latin typeface="Fredoka"/>
              </a:rPr>
              <a:t> </a:t>
            </a:r>
            <a:r>
              <a:rPr sz="1425" b="0" i="0" u="none" dirty="0" err="1">
                <a:solidFill>
                  <a:srgbClr val="5C4E4B"/>
                </a:solidFill>
                <a:latin typeface="Fredoka"/>
              </a:rPr>
              <a:t>每次當你想買「想要」的衝動東西時，就對著手機裡這張貓咪圖大喊一聲，並把那筆預算存進去</a:t>
            </a:r>
            <a:r>
              <a:rPr sz="1425" b="0" i="0" u="none" dirty="0">
                <a:solidFill>
                  <a:srgbClr val="5C4E4B"/>
                </a:solidFill>
                <a:latin typeface="Fredoka"/>
              </a:rPr>
              <a:t>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1575" y="3530054"/>
            <a:ext cx="5197673" cy="57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1" i="0" u="none">
                <a:solidFill>
                  <a:srgbClr val="2C2220"/>
                </a:solidFill>
                <a:latin typeface="Fredoka"/>
              </a:rPr>
              <a:t>冷靜貓爪法則：</a:t>
            </a:r>
            <a:r>
              <a:rPr sz="1425" b="0" i="0" u="none">
                <a:solidFill>
                  <a:srgbClr val="5C4E4B"/>
                </a:solidFill>
                <a:latin typeface="Fredoka"/>
              </a:rPr>
              <a:t> 將購物車裡的東西放置 48 小時。在按下結帳前，看著 winking 的貓咪，問自己這能不能換一箱罐罐？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1575" y="4299495"/>
            <a:ext cx="5197673" cy="57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1" i="0" u="none">
                <a:solidFill>
                  <a:srgbClr val="2C2220"/>
                </a:solidFill>
                <a:latin typeface="Fredoka"/>
              </a:rPr>
              <a:t>零錢自動滾入：</a:t>
            </a:r>
            <a:r>
              <a:rPr sz="1425" b="0" i="0" u="none">
                <a:solidFill>
                  <a:srgbClr val="5C4E4B"/>
                </a:solidFill>
                <a:latin typeface="Fredoka"/>
              </a:rPr>
              <a:t> 利用網銀隨選小額投資，每次只要累積百元零錢就自動扣款，無痛開啟投資之路。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2779662"/>
            <a:ext cx="163115" cy="2476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3549104"/>
            <a:ext cx="163115" cy="2476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" y="4318545"/>
            <a:ext cx="163115" cy="247650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7ECEB707-1F26-64DD-72FE-91A302D90A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2509" y="1520832"/>
            <a:ext cx="10183092" cy="4792768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88C934D0-80EB-9504-6950-2BE2AD2A0EB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68550" y="374970"/>
            <a:ext cx="4122777" cy="154699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A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6504" y="2505967"/>
            <a:ext cx="978991" cy="30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65583" y="2953642"/>
            <a:ext cx="6660832" cy="590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450" b="1" i="0" u="none">
                <a:solidFill>
                  <a:srgbClr val="3C312E"/>
                </a:solidFill>
                <a:latin typeface="Fredoka"/>
              </a:rPr>
              <a:t>實戰演練！理財工具輕鬆大閱兵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0" y="3782317"/>
            <a:ext cx="762000" cy="571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924175" y="4077592"/>
            <a:ext cx="634365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0" u="none">
                <a:solidFill>
                  <a:srgbClr val="5C4E4B"/>
                </a:solidFill>
                <a:latin typeface="Fredoka"/>
              </a:rPr>
              <a:t>挑選合適的武器，不花腦力也不用委屈自己，讓存錢這件事像玩收集遊戲一樣好玩！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24F373CC-1633-35BD-25F8-47967249FC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909" y="1600200"/>
            <a:ext cx="11656578" cy="5031720"/>
          </a:xfrm>
          <a:prstGeom prst="rect">
            <a:avLst/>
          </a:prstGeom>
        </p:spPr>
      </p:pic>
      <p:sp>
        <p:nvSpPr>
          <p:cNvPr id="10" name="TextBox 4">
            <a:extLst>
              <a:ext uri="{FF2B5EF4-FFF2-40B4-BE49-F238E27FC236}">
                <a16:creationId xmlns:a16="http://schemas.microsoft.com/office/drawing/2014/main" id="{6106D7E1-FE48-04D0-C389-BC36649908E1}"/>
              </a:ext>
            </a:extLst>
          </p:cNvPr>
          <p:cNvSpPr txBox="1"/>
          <p:nvPr/>
        </p:nvSpPr>
        <p:spPr>
          <a:xfrm>
            <a:off x="1685925" y="552450"/>
            <a:ext cx="8319477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zh-TW" altLang="en-US" sz="4400" b="1" i="0" u="none" dirty="0">
                <a:solidFill>
                  <a:srgbClr val="3C312E"/>
                </a:solidFill>
                <a:latin typeface="Fredoka"/>
              </a:rPr>
              <a:t>股票交易紀錄</a:t>
            </a:r>
            <a:r>
              <a:rPr sz="4275" b="1" i="0" u="none" dirty="0">
                <a:solidFill>
                  <a:srgbClr val="3C312E"/>
                </a:solidFill>
                <a:latin typeface="Fredoka"/>
              </a:rPr>
              <a:t>♥</a:t>
            </a: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26058867-04BB-F0FB-1375-5C7B4A7A37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4078" y="1668868"/>
            <a:ext cx="3308840" cy="4341198"/>
          </a:xfrm>
          <a:prstGeom prst="rect">
            <a:avLst/>
          </a:prstGeom>
        </p:spPr>
      </p:pic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2AA9E5D2-4B74-8738-8A1B-0DACFC02223A}"/>
              </a:ext>
            </a:extLst>
          </p:cNvPr>
          <p:cNvCxnSpPr>
            <a:cxnSpLocks/>
          </p:cNvCxnSpPr>
          <p:nvPr/>
        </p:nvCxnSpPr>
        <p:spPr>
          <a:xfrm flipV="1">
            <a:off x="2657092" y="1668868"/>
            <a:ext cx="756986" cy="51326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80E95911-84CC-8797-6F39-F590B3B6E4A8}"/>
              </a:ext>
            </a:extLst>
          </p:cNvPr>
          <p:cNvCxnSpPr>
            <a:cxnSpLocks/>
          </p:cNvCxnSpPr>
          <p:nvPr/>
        </p:nvCxnSpPr>
        <p:spPr>
          <a:xfrm>
            <a:off x="2700177" y="2505967"/>
            <a:ext cx="817810" cy="350409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" name="圖片 20">
            <a:extLst>
              <a:ext uri="{FF2B5EF4-FFF2-40B4-BE49-F238E27FC236}">
                <a16:creationId xmlns:a16="http://schemas.microsoft.com/office/drawing/2014/main" id="{5E141E57-D6DA-05B7-FCDE-F6121D6D10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909" y="796343"/>
            <a:ext cx="2537680" cy="5486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85925" y="552450"/>
            <a:ext cx="8551068" cy="657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zh-TW" altLang="en-US" sz="4275" b="1" i="0" u="none" dirty="0">
                <a:solidFill>
                  <a:srgbClr val="3C312E"/>
                </a:solidFill>
                <a:latin typeface="Fredoka"/>
              </a:rPr>
              <a:t>固定資產</a:t>
            </a:r>
            <a:r>
              <a:rPr lang="en-US" altLang="zh-TW" sz="4275" b="1" i="0" u="none" dirty="0">
                <a:solidFill>
                  <a:srgbClr val="3C312E"/>
                </a:solidFill>
                <a:latin typeface="Fredoka"/>
              </a:rPr>
              <a:t>/</a:t>
            </a:r>
            <a:r>
              <a:rPr lang="zh-TW" altLang="en-US" sz="4275" b="1" i="0" u="none" dirty="0">
                <a:solidFill>
                  <a:srgbClr val="3C312E"/>
                </a:solidFill>
                <a:latin typeface="Fredoka"/>
              </a:rPr>
              <a:t>負債</a:t>
            </a:r>
          </a:p>
        </p:txBody>
      </p:sp>
      <p:sp>
        <p:nvSpPr>
          <p:cNvPr id="7" name="Rectangle 6"/>
          <p:cNvSpPr/>
          <p:nvPr/>
        </p:nvSpPr>
        <p:spPr>
          <a:xfrm>
            <a:off x="781050" y="3633787"/>
            <a:ext cx="2013346" cy="19050"/>
          </a:xfrm>
          <a:prstGeom prst="rect">
            <a:avLst/>
          </a:prstGeom>
          <a:solidFill>
            <a:srgbClr val="F0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94396" y="3633787"/>
            <a:ext cx="1604218" cy="19050"/>
          </a:xfrm>
          <a:prstGeom prst="rect">
            <a:avLst/>
          </a:prstGeom>
          <a:solidFill>
            <a:srgbClr val="F0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98615" y="3633787"/>
            <a:ext cx="2316658" cy="19050"/>
          </a:xfrm>
          <a:prstGeom prst="rect">
            <a:avLst/>
          </a:prstGeom>
          <a:solidFill>
            <a:srgbClr val="F0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715273" y="3633787"/>
            <a:ext cx="1551384" cy="19050"/>
          </a:xfrm>
          <a:prstGeom prst="rect">
            <a:avLst/>
          </a:prstGeom>
          <a:solidFill>
            <a:srgbClr val="F0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66658" y="3633787"/>
            <a:ext cx="3144291" cy="19050"/>
          </a:xfrm>
          <a:prstGeom prst="rect">
            <a:avLst/>
          </a:prstGeom>
          <a:solidFill>
            <a:srgbClr val="F0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81050" y="4157662"/>
            <a:ext cx="2013346" cy="19050"/>
          </a:xfrm>
          <a:prstGeom prst="rect">
            <a:avLst/>
          </a:prstGeom>
          <a:solidFill>
            <a:srgbClr val="F0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794396" y="4157662"/>
            <a:ext cx="1604218" cy="19050"/>
          </a:xfrm>
          <a:prstGeom prst="rect">
            <a:avLst/>
          </a:prstGeom>
          <a:solidFill>
            <a:srgbClr val="F0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98615" y="4157662"/>
            <a:ext cx="2316658" cy="19050"/>
          </a:xfrm>
          <a:prstGeom prst="rect">
            <a:avLst/>
          </a:prstGeom>
          <a:solidFill>
            <a:srgbClr val="F0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715273" y="4157662"/>
            <a:ext cx="1551384" cy="19050"/>
          </a:xfrm>
          <a:prstGeom prst="rect">
            <a:avLst/>
          </a:prstGeom>
          <a:solidFill>
            <a:srgbClr val="F0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66658" y="4157662"/>
            <a:ext cx="3144291" cy="19050"/>
          </a:xfrm>
          <a:prstGeom prst="rect">
            <a:avLst/>
          </a:prstGeom>
          <a:solidFill>
            <a:srgbClr val="F0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81050" y="4681537"/>
            <a:ext cx="2013346" cy="19050"/>
          </a:xfrm>
          <a:prstGeom prst="rect">
            <a:avLst/>
          </a:prstGeom>
          <a:solidFill>
            <a:srgbClr val="F0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794396" y="4681537"/>
            <a:ext cx="1604218" cy="19050"/>
          </a:xfrm>
          <a:prstGeom prst="rect">
            <a:avLst/>
          </a:prstGeom>
          <a:solidFill>
            <a:srgbClr val="F0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398615" y="4681537"/>
            <a:ext cx="2316658" cy="19050"/>
          </a:xfrm>
          <a:prstGeom prst="rect">
            <a:avLst/>
          </a:prstGeom>
          <a:solidFill>
            <a:srgbClr val="F0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715273" y="4681537"/>
            <a:ext cx="1551384" cy="19050"/>
          </a:xfrm>
          <a:prstGeom prst="rect">
            <a:avLst/>
          </a:prstGeom>
          <a:solidFill>
            <a:srgbClr val="F0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266658" y="4681537"/>
            <a:ext cx="3144291" cy="19050"/>
          </a:xfrm>
          <a:prstGeom prst="rect">
            <a:avLst/>
          </a:prstGeom>
          <a:solidFill>
            <a:srgbClr val="F0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圖片 24">
            <a:extLst>
              <a:ext uri="{FF2B5EF4-FFF2-40B4-BE49-F238E27FC236}">
                <a16:creationId xmlns:a16="http://schemas.microsoft.com/office/drawing/2014/main" id="{56A4B2A7-6807-EFC8-03AF-B91E9DF91A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525" y="2042274"/>
            <a:ext cx="11410950" cy="42498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7" name="圖片 26">
            <a:extLst>
              <a:ext uri="{FF2B5EF4-FFF2-40B4-BE49-F238E27FC236}">
                <a16:creationId xmlns:a16="http://schemas.microsoft.com/office/drawing/2014/main" id="{A1B3D24C-7506-6C71-544B-85F9C921F4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7243" y="2700338"/>
            <a:ext cx="1981372" cy="1585097"/>
          </a:xfrm>
          <a:prstGeom prst="rect">
            <a:avLst/>
          </a:prstGeom>
        </p:spPr>
      </p:pic>
      <p:pic>
        <p:nvPicPr>
          <p:cNvPr id="29" name="圖片 28">
            <a:extLst>
              <a:ext uri="{FF2B5EF4-FFF2-40B4-BE49-F238E27FC236}">
                <a16:creationId xmlns:a16="http://schemas.microsoft.com/office/drawing/2014/main" id="{F00D0FBA-D4A2-6D52-E503-4FCA566123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0589" y="1890238"/>
            <a:ext cx="3445543" cy="1517966"/>
          </a:xfrm>
          <a:prstGeom prst="rect">
            <a:avLst/>
          </a:prstGeom>
        </p:spPr>
      </p:pic>
      <p:cxnSp>
        <p:nvCxnSpPr>
          <p:cNvPr id="30" name="直線單箭頭接點 29">
            <a:extLst>
              <a:ext uri="{FF2B5EF4-FFF2-40B4-BE49-F238E27FC236}">
                <a16:creationId xmlns:a16="http://schemas.microsoft.com/office/drawing/2014/main" id="{21E49238-10E2-5891-6ECD-DCD429F7016C}"/>
              </a:ext>
            </a:extLst>
          </p:cNvPr>
          <p:cNvCxnSpPr>
            <a:cxnSpLocks/>
          </p:cNvCxnSpPr>
          <p:nvPr/>
        </p:nvCxnSpPr>
        <p:spPr>
          <a:xfrm flipV="1">
            <a:off x="2022763" y="2700338"/>
            <a:ext cx="564573" cy="13703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線單箭頭接點 31">
            <a:extLst>
              <a:ext uri="{FF2B5EF4-FFF2-40B4-BE49-F238E27FC236}">
                <a16:creationId xmlns:a16="http://schemas.microsoft.com/office/drawing/2014/main" id="{C76BC180-41E0-45F7-931E-42411926A0D7}"/>
              </a:ext>
            </a:extLst>
          </p:cNvPr>
          <p:cNvCxnSpPr>
            <a:cxnSpLocks/>
          </p:cNvCxnSpPr>
          <p:nvPr/>
        </p:nvCxnSpPr>
        <p:spPr>
          <a:xfrm>
            <a:off x="2022763" y="3179105"/>
            <a:ext cx="564573" cy="102392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線單箭頭接點 33">
            <a:extLst>
              <a:ext uri="{FF2B5EF4-FFF2-40B4-BE49-F238E27FC236}">
                <a16:creationId xmlns:a16="http://schemas.microsoft.com/office/drawing/2014/main" id="{EF9127CC-BCCD-3F3E-EEE0-2E3B4C50DC27}"/>
              </a:ext>
            </a:extLst>
          </p:cNvPr>
          <p:cNvCxnSpPr>
            <a:cxnSpLocks/>
          </p:cNvCxnSpPr>
          <p:nvPr/>
        </p:nvCxnSpPr>
        <p:spPr>
          <a:xfrm flipV="1">
            <a:off x="3857068" y="1933551"/>
            <a:ext cx="573521" cy="83530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>
            <a:extLst>
              <a:ext uri="{FF2B5EF4-FFF2-40B4-BE49-F238E27FC236}">
                <a16:creationId xmlns:a16="http://schemas.microsoft.com/office/drawing/2014/main" id="{706C2CE6-5FFF-E841-C236-5776BB7771BC}"/>
              </a:ext>
            </a:extLst>
          </p:cNvPr>
          <p:cNvCxnSpPr>
            <a:cxnSpLocks/>
          </p:cNvCxnSpPr>
          <p:nvPr/>
        </p:nvCxnSpPr>
        <p:spPr>
          <a:xfrm>
            <a:off x="3931614" y="3149220"/>
            <a:ext cx="530949" cy="27769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33525" y="552450"/>
            <a:ext cx="7980997" cy="657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TW" altLang="en-US" sz="4275" b="1" i="0" u="none" dirty="0">
                <a:solidFill>
                  <a:srgbClr val="3C312E"/>
                </a:solidFill>
                <a:latin typeface="Fredoka"/>
              </a:rPr>
              <a:t>問題與討論</a:t>
            </a:r>
            <a:endParaRPr sz="4275" b="1" i="0" u="none" dirty="0">
              <a:solidFill>
                <a:srgbClr val="3C312E"/>
              </a:solidFill>
              <a:latin typeface="Fredoka"/>
            </a:endParaRPr>
          </a:p>
        </p:txBody>
      </p:sp>
      <p:sp>
        <p:nvSpPr>
          <p:cNvPr id="8" name="內容版面配置區 7">
            <a:extLst>
              <a:ext uri="{FF2B5EF4-FFF2-40B4-BE49-F238E27FC236}">
                <a16:creationId xmlns:a16="http://schemas.microsoft.com/office/drawing/2014/main" id="{DA84919E-30EC-2408-0DA2-6CAF4711F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7107" y="1600200"/>
            <a:ext cx="10433627" cy="4525963"/>
          </a:xfrm>
        </p:spPr>
        <p:txBody>
          <a:bodyPr/>
          <a:lstStyle/>
          <a:p>
            <a:r>
              <a:rPr lang="en-US" altLang="zh-TW" dirty="0"/>
              <a:t>1.API</a:t>
            </a:r>
            <a:r>
              <a:rPr lang="zh-TW" altLang="en-US" dirty="0"/>
              <a:t>問題</a:t>
            </a:r>
            <a:endParaRPr lang="en-US" altLang="zh-TW" dirty="0"/>
          </a:p>
          <a:p>
            <a:r>
              <a:rPr lang="en-US" altLang="zh-TW" dirty="0"/>
              <a:t>2.</a:t>
            </a:r>
            <a:r>
              <a:rPr lang="zh-TW" altLang="en-US" dirty="0"/>
              <a:t>變數問題</a:t>
            </a:r>
            <a:r>
              <a:rPr lang="en-US" altLang="zh-TW" dirty="0"/>
              <a:t>(var</a:t>
            </a:r>
            <a:r>
              <a:rPr lang="zh-TW" altLang="en-US" dirty="0"/>
              <a:t>可重複</a:t>
            </a:r>
            <a:r>
              <a:rPr lang="en-US" altLang="zh-TW" dirty="0"/>
              <a:t>,const</a:t>
            </a:r>
            <a:r>
              <a:rPr lang="zh-TW" altLang="en-US" dirty="0"/>
              <a:t>不可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3.</a:t>
            </a:r>
            <a:r>
              <a:rPr lang="zh-TW" altLang="en-US" dirty="0"/>
              <a:t>資料儲存問題</a:t>
            </a:r>
            <a:endParaRPr lang="en-US" altLang="zh-TW" dirty="0"/>
          </a:p>
          <a:p>
            <a:r>
              <a:rPr lang="en-US" altLang="zh-TW" dirty="0"/>
              <a:t>(local storage</a:t>
            </a:r>
            <a:r>
              <a:rPr lang="zh-TW" altLang="en-US" dirty="0"/>
              <a:t>失敗，改用一頁方式呈現</a:t>
            </a:r>
            <a:r>
              <a:rPr lang="en-US" altLang="zh-TW" dirty="0"/>
              <a:t>)</a:t>
            </a:r>
          </a:p>
          <a:p>
            <a:endParaRPr lang="zh-TW" altLang="en-US" dirty="0"/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19D38470-EC7C-40F1-9916-EFAA7DE24C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1677694"/>
              </p:ext>
            </p:extLst>
          </p:nvPr>
        </p:nvGraphicFramePr>
        <p:xfrm>
          <a:off x="1451265" y="4249881"/>
          <a:ext cx="4644735" cy="2294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8245">
                  <a:extLst>
                    <a:ext uri="{9D8B030D-6E8A-4147-A177-3AD203B41FA5}">
                      <a16:colId xmlns:a16="http://schemas.microsoft.com/office/drawing/2014/main" val="276190335"/>
                    </a:ext>
                  </a:extLst>
                </a:gridCol>
                <a:gridCol w="1548245">
                  <a:extLst>
                    <a:ext uri="{9D8B030D-6E8A-4147-A177-3AD203B41FA5}">
                      <a16:colId xmlns:a16="http://schemas.microsoft.com/office/drawing/2014/main" val="1268837053"/>
                    </a:ext>
                  </a:extLst>
                </a:gridCol>
                <a:gridCol w="1548245">
                  <a:extLst>
                    <a:ext uri="{9D8B030D-6E8A-4147-A177-3AD203B41FA5}">
                      <a16:colId xmlns:a16="http://schemas.microsoft.com/office/drawing/2014/main" val="3125286970"/>
                    </a:ext>
                  </a:extLst>
                </a:gridCol>
              </a:tblGrid>
              <a:tr h="573534">
                <a:tc>
                  <a:txBody>
                    <a:bodyPr/>
                    <a:lstStyle/>
                    <a:p>
                      <a:r>
                        <a:rPr lang="zh-TW" altLang="en-US" dirty="0"/>
                        <a:t>項目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手寫比例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AI</a:t>
                      </a:r>
                      <a:r>
                        <a:rPr lang="zh-TW" altLang="en-US" dirty="0"/>
                        <a:t>比例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7506645"/>
                  </a:ext>
                </a:extLst>
              </a:tr>
              <a:tr h="573534">
                <a:tc>
                  <a:txBody>
                    <a:bodyPr/>
                    <a:lstStyle/>
                    <a:p>
                      <a:r>
                        <a:rPr lang="en-US" altLang="zh-TW" dirty="0"/>
                        <a:t>HTML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100%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0%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7499602"/>
                  </a:ext>
                </a:extLst>
              </a:tr>
              <a:tr h="573534">
                <a:tc>
                  <a:txBody>
                    <a:bodyPr/>
                    <a:lstStyle/>
                    <a:p>
                      <a:r>
                        <a:rPr lang="en-US" altLang="zh-TW" dirty="0"/>
                        <a:t>CSS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80%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20%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9514189"/>
                  </a:ext>
                </a:extLst>
              </a:tr>
              <a:tr h="573534">
                <a:tc>
                  <a:txBody>
                    <a:bodyPr/>
                    <a:lstStyle/>
                    <a:p>
                      <a:r>
                        <a:rPr lang="en-US" altLang="zh-TW" dirty="0"/>
                        <a:t>JAVASCRIPT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30%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70%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1645958"/>
                  </a:ext>
                </a:extLst>
              </a:tr>
            </a:tbl>
          </a:graphicData>
        </a:graphic>
      </p:graphicFrame>
      <p:pic>
        <p:nvPicPr>
          <p:cNvPr id="4" name="圖片 3">
            <a:extLst>
              <a:ext uri="{FF2B5EF4-FFF2-40B4-BE49-F238E27FC236}">
                <a16:creationId xmlns:a16="http://schemas.microsoft.com/office/drawing/2014/main" id="{DCB644A5-10A1-C462-9BD8-96CEBC6D74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4742" y="244763"/>
            <a:ext cx="4420466" cy="294697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2676525"/>
            <a:ext cx="10706100" cy="2476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33525" y="552450"/>
            <a:ext cx="7189961" cy="6578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zh-TW" altLang="en-US" sz="4275" b="1" dirty="0">
                <a:solidFill>
                  <a:srgbClr val="3C312E"/>
                </a:solidFill>
                <a:latin typeface="Fredoka"/>
              </a:rPr>
              <a:t>開發日程</a:t>
            </a:r>
            <a:endParaRPr sz="4275" b="1" i="0" u="none" dirty="0">
              <a:solidFill>
                <a:srgbClr val="3C312E"/>
              </a:solidFill>
              <a:latin typeface="Fredoka"/>
            </a:endParaRP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0989" y="3360390"/>
            <a:ext cx="3867447" cy="11086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90989" y="339268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DA4A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43414" y="3360390"/>
            <a:ext cx="3172122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A3E3D"/>
                </a:solidFill>
                <a:latin typeface="Fredoka SemiBold"/>
              </a:rPr>
              <a:t>必要生活花費 (50%) — 滿足每日能量所需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0989" y="3809851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7DD3FC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43414" y="3777555"/>
            <a:ext cx="3343572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A3E3D"/>
                </a:solidFill>
                <a:latin typeface="Fredoka SemiBold"/>
              </a:rPr>
              <a:t>未來夢想基金 (30%) — 給自己最足的安全感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0989" y="4227016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DE04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43414" y="4194720"/>
            <a:ext cx="3515022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A3E3D"/>
                </a:solidFill>
                <a:latin typeface="Fredoka SemiBold"/>
              </a:rPr>
              <a:t>快樂休閒享樂 (20%) — 喝咖啡、吃大餐不罪惡</a:t>
            </a: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DAF61182-6824-17DA-1D51-600BD0D496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961" y="1648592"/>
            <a:ext cx="11020089" cy="474161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6312" y="1933575"/>
            <a:ext cx="2619226" cy="30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917141" y="4011681"/>
            <a:ext cx="6279534" cy="8656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zh-TW" altLang="en-US" sz="5625" b="1" i="0" u="none" dirty="0">
                <a:solidFill>
                  <a:srgbClr val="A855F7"/>
                </a:solidFill>
                <a:latin typeface="Fredoka"/>
              </a:rPr>
              <a:t>系統未來發展</a:t>
            </a:r>
            <a:endParaRPr sz="5625" b="1" i="0" u="none" dirty="0">
              <a:solidFill>
                <a:srgbClr val="A855F7"/>
              </a:solidFill>
              <a:latin typeface="Fredok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956232" y="5093401"/>
            <a:ext cx="8189173" cy="11156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879"/>
              </a:lnSpc>
            </a:pPr>
            <a:r>
              <a:rPr lang="en-US" altLang="zh-TW" sz="2800" b="1" i="0" u="none" dirty="0">
                <a:solidFill>
                  <a:srgbClr val="4A3E3D"/>
                </a:solidFill>
                <a:latin typeface="Fredoka"/>
              </a:rPr>
              <a:t>1.</a:t>
            </a:r>
            <a:r>
              <a:rPr lang="zh-TW" altLang="en-US" sz="2800" b="1" dirty="0">
                <a:solidFill>
                  <a:srgbClr val="4A3E3D"/>
                </a:solidFill>
                <a:latin typeface="Fredoka"/>
              </a:rPr>
              <a:t>加入資料庫系統</a:t>
            </a:r>
            <a:endParaRPr lang="en-US" altLang="zh-TW" sz="2800" b="1" i="0" u="none" dirty="0">
              <a:solidFill>
                <a:srgbClr val="4A3E3D"/>
              </a:solidFill>
              <a:latin typeface="Fredoka"/>
            </a:endParaRPr>
          </a:p>
          <a:p>
            <a:pPr>
              <a:lnSpc>
                <a:spcPts val="2879"/>
              </a:lnSpc>
            </a:pPr>
            <a:r>
              <a:rPr lang="en-US" altLang="zh-TW" sz="2800" b="1" dirty="0">
                <a:solidFill>
                  <a:srgbClr val="4A3E3D"/>
                </a:solidFill>
                <a:latin typeface="Fredoka"/>
              </a:rPr>
              <a:t>2.</a:t>
            </a:r>
            <a:r>
              <a:rPr lang="zh-TW" altLang="en-US" sz="2800" b="1" dirty="0">
                <a:solidFill>
                  <a:srgbClr val="4A3E3D"/>
                </a:solidFill>
                <a:latin typeface="Fredoka"/>
              </a:rPr>
              <a:t>圖示化</a:t>
            </a:r>
            <a:endParaRPr lang="en-US" altLang="zh-TW" sz="2800" b="1" dirty="0">
              <a:solidFill>
                <a:srgbClr val="4A3E3D"/>
              </a:solidFill>
              <a:latin typeface="Fredoka"/>
            </a:endParaRPr>
          </a:p>
          <a:p>
            <a:pPr>
              <a:lnSpc>
                <a:spcPts val="2879"/>
              </a:lnSpc>
            </a:pPr>
            <a:r>
              <a:rPr lang="en-US" altLang="zh-TW" sz="2800" b="1" i="0" u="none" dirty="0">
                <a:solidFill>
                  <a:srgbClr val="4A3E3D"/>
                </a:solidFill>
                <a:latin typeface="Fredoka"/>
              </a:rPr>
              <a:t>3.</a:t>
            </a:r>
            <a:r>
              <a:rPr lang="zh-TW" altLang="en-US" sz="2800" b="1" i="0" u="none" dirty="0">
                <a:solidFill>
                  <a:srgbClr val="4A3E3D"/>
                </a:solidFill>
                <a:latin typeface="Fredoka"/>
              </a:rPr>
              <a:t>結合記帳</a:t>
            </a:r>
            <a:r>
              <a:rPr lang="en-US" altLang="zh-TW" sz="2800" b="1" i="0" u="none" dirty="0">
                <a:solidFill>
                  <a:srgbClr val="4A3E3D"/>
                </a:solidFill>
                <a:latin typeface="Fredoka"/>
              </a:rPr>
              <a:t>APP</a:t>
            </a:r>
            <a:endParaRPr sz="2800" b="1" i="0" u="none" dirty="0">
              <a:solidFill>
                <a:srgbClr val="4A3E3D"/>
              </a:solidFill>
              <a:latin typeface="Fredoka"/>
            </a:endParaRP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0FE04DC9-C6A9-33EF-C0F2-258CF82F2B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766" y="3932672"/>
            <a:ext cx="2743199" cy="274319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TextBox 4">
            <a:extLst>
              <a:ext uri="{FF2B5EF4-FFF2-40B4-BE49-F238E27FC236}">
                <a16:creationId xmlns:a16="http://schemas.microsoft.com/office/drawing/2014/main" id="{FF11FCF6-81AD-A17E-1CAE-F13520727CCA}"/>
              </a:ext>
            </a:extLst>
          </p:cNvPr>
          <p:cNvSpPr txBox="1"/>
          <p:nvPr/>
        </p:nvSpPr>
        <p:spPr>
          <a:xfrm>
            <a:off x="2956232" y="2631316"/>
            <a:ext cx="6279534" cy="8656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altLang="zh-TW" sz="5625" b="1" i="0" u="none" dirty="0">
                <a:latin typeface="Fredoka"/>
              </a:rPr>
              <a:t>--</a:t>
            </a:r>
            <a:r>
              <a:rPr lang="zh-TW" altLang="en-US" sz="5625" b="1" i="0" u="none" dirty="0">
                <a:latin typeface="Fredoka"/>
              </a:rPr>
              <a:t>謝謝大家聆聽</a:t>
            </a:r>
            <a:r>
              <a:rPr lang="en-US" altLang="zh-TW" sz="5625" b="1" i="0" u="none" dirty="0">
                <a:latin typeface="Fredoka"/>
              </a:rPr>
              <a:t>--</a:t>
            </a:r>
            <a:endParaRPr sz="5625" b="1" i="0" u="none" dirty="0">
              <a:latin typeface="Fredok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603</TotalTime>
  <Words>208</Words>
  <Application>Microsoft Office PowerPoint</Application>
  <PresentationFormat>寬螢幕</PresentationFormat>
  <Paragraphs>47</Paragraphs>
  <Slides>10</Slides>
  <Notes>0</Notes>
  <HiddenSlides>0</HiddenSlides>
  <MMClips>0</MMClips>
  <ScaleCrop>false</ScaleCrop>
  <HeadingPairs>
    <vt:vector size="8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6" baseType="lpstr">
      <vt:lpstr>Fredoka</vt:lpstr>
      <vt:lpstr>Fredoka SemiBold</vt:lpstr>
      <vt:lpstr>Arial</vt:lpstr>
      <vt:lpstr>Calibri</vt:lpstr>
      <vt:lpstr>Office Theme</vt:lpstr>
      <vt:lpstr>封裝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佑政 陳</cp:lastModifiedBy>
  <cp:revision>8</cp:revision>
  <dcterms:created xsi:type="dcterms:W3CDTF">2013-01-27T09:14:16Z</dcterms:created>
  <dcterms:modified xsi:type="dcterms:W3CDTF">2026-07-23T08:28:15Z</dcterms:modified>
  <cp:category/>
</cp:coreProperties>
</file>